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411480"/>
            <a:ext cx="9448495" cy="2011680"/>
          </a:xfrm>
          <a:prstGeom prst="rect">
            <a:avLst/>
          </a:prstGeom>
          <a:noFill/>
        </p:spPr>
        <p:txBody>
          <a:bodyPr wrap="square">
            <a:spAutoFit/>
          </a:bodyPr>
          <a:lstStyle/>
          <a:p>
            <a:pPr algn="ctr">
              <a:defRPr sz="2000" b="1">
                <a:solidFill>
                  <a:srgbClr val="BE1E3C"/>
                </a:solidFill>
                <a:latin typeface="Times New Roman"/>
              </a:defRPr>
            </a:pPr>
            <a:r>
              <a:t>KIT-KALAIGNARKARUNANIDHI INSTITUTE OF TECHNOLOGY</a:t>
            </a:r>
          </a:p>
          <a:p>
            <a:pPr algn="ctr">
              <a:defRPr sz="1300" b="1">
                <a:solidFill>
                  <a:srgbClr val="281446"/>
                </a:solidFill>
                <a:latin typeface="Times New Roman"/>
              </a:defRPr>
            </a:pPr>
            <a:r>
              <a:t>COIMBATORE - 641402</a:t>
            </a:r>
            <a:br/>
            <a:r>
              <a:t>Approved by AICTE Affiliated to Anna University, Chennai</a:t>
            </a:r>
            <a:br/>
            <a:r>
              <a:t>Accredited With ‘A’ Grade by NAAC &amp; By NBA</a:t>
            </a:r>
          </a:p>
          <a:p>
            <a:br/>
            <a:pPr algn="ctr">
              <a:defRPr sz="1500" b="1">
                <a:solidFill>
                  <a:srgbClr val="141928"/>
                </a:solidFill>
                <a:latin typeface="Times New Roman"/>
              </a:defRPr>
            </a:pPr>
            <a:r>
              <a:t>DEPARTMENT OF CSE(AI&amp;ML)</a:t>
            </a:r>
          </a:p>
        </p:txBody>
      </p:sp>
      <p:sp>
        <p:nvSpPr>
          <p:cNvPr id="4" name="TextBox 3"/>
          <p:cNvSpPr txBox="1"/>
          <p:nvPr/>
        </p:nvSpPr>
        <p:spPr>
          <a:xfrm>
            <a:off x="914400" y="2560320"/>
            <a:ext cx="10362895" cy="1371600"/>
          </a:xfrm>
          <a:prstGeom prst="rect">
            <a:avLst/>
          </a:prstGeom>
          <a:noFill/>
        </p:spPr>
        <p:txBody>
          <a:bodyPr wrap="square">
            <a:spAutoFit/>
          </a:bodyPr>
          <a:lstStyle/>
          <a:p>
            <a:pPr algn="ctr">
              <a:defRPr sz="2200" b="1">
                <a:solidFill>
                  <a:srgbClr val="BE1E3C"/>
                </a:solidFill>
                <a:latin typeface="Arial"/>
              </a:defRPr>
            </a:pPr>
            <a:r>
              <a:t>AT-RISK STUDENT EARLY WARNING SYSTEM USING DEEP NEURAL NETWORKS</a:t>
            </a:r>
          </a:p>
          <a:p>
            <a:pPr algn="ctr">
              <a:defRPr sz="1300">
                <a:solidFill>
                  <a:srgbClr val="5A6473"/>
                </a:solidFill>
              </a:defRPr>
            </a:pPr>
            <a:r>
              <a:t>A Deep Neural Network Project for Academic Risk Stratification and Early Intervention</a:t>
            </a:r>
          </a:p>
        </p:txBody>
      </p:sp>
      <p:sp>
        <p:nvSpPr>
          <p:cNvPr id="5" name="TextBox 4"/>
          <p:cNvSpPr txBox="1"/>
          <p:nvPr/>
        </p:nvSpPr>
        <p:spPr>
          <a:xfrm>
            <a:off x="1828800" y="4114800"/>
            <a:ext cx="8534095" cy="2011680"/>
          </a:xfrm>
          <a:prstGeom prst="rect">
            <a:avLst/>
          </a:prstGeom>
          <a:noFill/>
        </p:spPr>
        <p:txBody>
          <a:bodyPr wrap="square">
            <a:spAutoFit/>
          </a:bodyPr>
          <a:lstStyle/>
          <a:p>
            <a:pPr algn="ctr">
              <a:defRPr sz="1300" b="1">
                <a:solidFill>
                  <a:srgbClr val="281446"/>
                </a:solidFill>
              </a:defRPr>
            </a:pPr>
            <a:r>
              <a:t>PRESENTED BY:</a:t>
            </a:r>
          </a:p>
          <a:p>
            <a:pPr algn="ctr">
              <a:defRPr sz="1200" b="1">
                <a:solidFill>
                  <a:srgbClr val="141928"/>
                </a:solidFill>
              </a:defRPr>
            </a:pPr>
            <a:r>
              <a:t>1. SURUTHI S (Reg No: CSE2024001)       2. SURYA (Reg No: AIML2024015)       3. PRIYA (Reg No: CSE2024042)</a:t>
            </a:r>
          </a:p>
          <a:p>
            <a:br/>
            <a:pPr algn="ctr">
              <a:defRPr sz="1200">
                <a:solidFill>
                  <a:srgbClr val="5A6473"/>
                </a:solidFill>
              </a:defRPr>
            </a:pPr>
            <a:r>
              <a:t>Class: 3rd Year B.E. CSE(AI&amp;ML) | Academic Year: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PROBLEM STATEMENT/OBJECTIVE</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188720"/>
            <a:ext cx="10362895" cy="5120640"/>
          </a:xfrm>
          <a:prstGeom prst="rect">
            <a:avLst/>
          </a:prstGeom>
          <a:noFill/>
        </p:spPr>
        <p:txBody>
          <a:bodyPr wrap="square">
            <a:spAutoFit/>
          </a:bodyPr>
          <a:lstStyle/>
          <a:p>
            <a:pPr>
              <a:defRPr sz="1500" b="1">
                <a:solidFill>
                  <a:srgbClr val="BE1E3C"/>
                </a:solidFill>
              </a:defRPr>
            </a:pPr>
            <a:r>
              <a:t>PROBLEM STATEMENT:</a:t>
            </a:r>
          </a:p>
          <a:p>
            <a:pPr>
              <a:defRPr sz="1150">
                <a:solidFill>
                  <a:srgbClr val="141928"/>
                </a:solidFill>
              </a:defRPr>
            </a:pPr>
            <a:r>
              <a:t>•  Higher education engineering programs enforce strict statutory requirements (e.g. minimum 75% lecture attendance and 40% internal continuous passing cutoffs).</a:t>
            </a:r>
          </a:p>
          <a:p>
            <a:pPr>
              <a:defRPr sz="1150">
                <a:solidFill>
                  <a:srgbClr val="141928"/>
                </a:solidFill>
              </a:defRPr>
            </a:pPr>
            <a:r>
              <a:t>•  Conventional institutional monitoring regimes are strictly retroactive: academic distress and failure are identified only after semester examinations conclude, when remedial action is impossible.</a:t>
            </a:r>
          </a:p>
          <a:p>
            <a:pPr>
              <a:defRPr sz="1150">
                <a:solidFill>
                  <a:srgbClr val="141928"/>
                </a:solidFill>
              </a:defRPr>
            </a:pPr>
            <a:r>
              <a:t>•  Engineering students experiencing early conceptual difficulties face a compounding deficit spiral: low attendance leads to concept gaps, resulting in failing internal marks, missed assignment deadlines, accumulated arrears, and ultimately semester detention.</a:t>
            </a:r>
          </a:p>
          <a:p>
            <a:pPr>
              <a:defRPr sz="1150">
                <a:solidFill>
                  <a:srgbClr val="141928"/>
                </a:solidFill>
              </a:defRPr>
            </a:pPr>
            <a:r>
              <a:t>•  Existing campus ERP software simply stores raw numerical marks without predictive early warning capability, risk probability stratification, or actionable counseling guidance.</a:t>
            </a:r>
          </a:p>
          <a:p>
            <a:br/>
            <a:pPr>
              <a:defRPr sz="1500" b="1">
                <a:solidFill>
                  <a:srgbClr val="BE1E3C"/>
                </a:solidFill>
              </a:defRPr>
            </a:pPr>
            <a:r>
              <a:t>PROJECT OBJECTIVES:</a:t>
            </a:r>
          </a:p>
          <a:p>
            <a:pPr>
              <a:defRPr sz="1150">
                <a:solidFill>
                  <a:srgbClr val="141928"/>
                </a:solidFill>
              </a:defRPr>
            </a:pPr>
            <a:r>
              <a:t>•  Build an AI-powered Early Warning System utilizing a multi-layer Deep Neural Network (DNN) to classify students into LOW RISK, MEDIUM RISK, and HIGH RISK.</a:t>
            </a:r>
          </a:p>
          <a:p>
            <a:pPr>
              <a:defRPr sz="1150">
                <a:solidFill>
                  <a:srgbClr val="141928"/>
                </a:solidFill>
              </a:defRPr>
            </a:pPr>
            <a:r>
              <a:t>•  Model multi-variate academic &amp; behavioral indicators: attendance %, internal marks, assignment scores, GPA, weekly study hours, backlogs, submission rates, and LMS engagement.</a:t>
            </a:r>
          </a:p>
          <a:p>
            <a:pPr>
              <a:defRPr sz="1150">
                <a:solidFill>
                  <a:srgbClr val="141928"/>
                </a:solidFill>
              </a:defRPr>
            </a:pPr>
            <a:r>
              <a:t>•  Compute exact Softmax posterior probability distributions to provide measured confidence scores for each individual risk classification.</a:t>
            </a:r>
          </a:p>
          <a:p>
            <a:pPr>
              <a:defRPr sz="1150">
                <a:solidFill>
                  <a:srgbClr val="141928"/>
                </a:solidFill>
              </a:defRPr>
            </a:pPr>
            <a:r>
              <a:t>•  Develop an Explainable Recommendation Engine that identifies specific root-cause deficiencies and synthesizes actionable, personalized mentoring interventions.</a:t>
            </a:r>
          </a:p>
          <a:p>
            <a:pPr>
              <a:defRPr sz="1150">
                <a:solidFill>
                  <a:srgbClr val="141928"/>
                </a:solidFill>
              </a:defRPr>
            </a:pPr>
            <a:r>
              <a:t>•  Deploy a production-grade web platform (Flask + SQLite + Chart.js) providing role-based dashboards for faculty and students, institutional analytics, and official printable dossiers.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ABSTRACT</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188720"/>
            <a:ext cx="10362895" cy="5120640"/>
          </a:xfrm>
          <a:prstGeom prst="rect">
            <a:avLst/>
          </a:prstGeom>
          <a:noFill/>
        </p:spPr>
        <p:txBody>
          <a:bodyPr wrap="square">
            <a:spAutoFit/>
          </a:bodyPr>
          <a:lstStyle/>
          <a:p>
            <a:pPr>
              <a:defRPr sz="1200">
                <a:solidFill>
                  <a:srgbClr val="141928"/>
                </a:solidFill>
              </a:defRPr>
            </a:pPr>
            <a:r>
              <a:t>Academic underperformance, attendance shortages, and course backlog accumulation in higher engineering education frequently lead to semester failures and student dropouts. Traditional institutional monitoring systems identify academic vulnerabilities only retroactively following end-semester examinations, precluding timely remedial counseling and mentoring.</a:t>
            </a:r>
          </a:p>
          <a:p>
            <a:pPr>
              <a:defRPr sz="400"/>
            </a:pPr>
          </a:p>
          <a:p>
            <a:pPr>
              <a:defRPr sz="1200">
                <a:solidFill>
                  <a:srgbClr val="141928"/>
                </a:solidFill>
              </a:defRPr>
            </a:pPr>
            <a:r>
              <a:t>This project presents an intelligent, end-to-end At-Risk Student Early Warning System powered by a Deep Neural Network (DNN) developed using TensorFlow and Keras. By continuously analyzing ten multi-dimensional academic and behavioral indicators—including lecture attendance percentage, continuous internal assessment marks, assignment performance, cumulative GPA, weekly independent study hours, active backlog count, assignment submission rates, and LMS engagement—the system classifies students into three calibrated tiers: LOW RISK, MEDIUM RISK, and HIGH RISK.</a:t>
            </a:r>
          </a:p>
          <a:p>
            <a:pPr>
              <a:defRPr sz="400"/>
            </a:pPr>
          </a:p>
          <a:p>
            <a:pPr>
              <a:defRPr sz="1200">
                <a:solidFill>
                  <a:srgbClr val="141928"/>
                </a:solidFill>
              </a:defRPr>
            </a:pPr>
            <a:r>
              <a:t>The proposed Deep Neural Network architecture incorporates three hidden dense layers (64, 32, 16 units) equipped with Rectified Linear Unit (ReLU) activations, Batch Normalization, Dropout regularization (rates 0.3 and 0.2), and L2 weight decay to prevent overfitting. The model terminates in a 3-unit Softmax output layer that yields calibrated posterior class probabilities.</a:t>
            </a:r>
          </a:p>
          <a:p>
            <a:pPr>
              <a:defRPr sz="400"/>
            </a:pPr>
          </a:p>
          <a:p>
            <a:pPr>
              <a:defRPr sz="1200">
                <a:solidFill>
                  <a:srgbClr val="141928"/>
                </a:solidFill>
              </a:defRPr>
            </a:pPr>
            <a:r>
              <a:t>Trained and evaluated on a benchmark dataset of 1,798 student records, the proposed DNN achieves an impressive 91.11% test accuracy and a weighted F1-score of 91.24% on unseen test splits, outperforming standard machine learning baselines including Logistic Regression (89.17%) and Random Forest (88.89%).</a:t>
            </a:r>
          </a:p>
          <a:p>
            <a:pPr>
              <a:defRPr sz="400"/>
            </a:pPr>
          </a:p>
          <a:p>
            <a:pPr>
              <a:defRPr sz="1200">
                <a:solidFill>
                  <a:srgbClr val="141928"/>
                </a:solidFill>
              </a:defRPr>
            </a:pPr>
            <a:r>
              <a:t>Beyond prediction, the platform integrates an explainable rule-based heuristic recommendation engine that pinpoints underlying risk triggers and prescribes personalized remedial actions for faculty mentors. A production-ready web application built with Python Flask, SQLite, and interactive Chart.js visualizations provides comprehensive faculty dashboards, individual student portals, cohort analytics, and official printable academic dossiers.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LITERATURE REVIEW</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1280160"/>
          <a:ext cx="10361980" cy="4754880"/>
        </p:xfrm>
        <a:graphic>
          <a:graphicData uri="http://schemas.openxmlformats.org/drawingml/2006/table">
            <a:tbl>
              <a:tblPr firstRow="1" bandRow="1">
                <a:tableStyleId>{5C22544A-7EE6-4342-B048-85BDC9FD1C3A}</a:tableStyleId>
              </a:tblPr>
              <a:tblGrid>
                <a:gridCol w="914400"/>
                <a:gridCol w="4723790"/>
                <a:gridCol w="4723790"/>
              </a:tblGrid>
              <a:tr h="1584960">
                <a:tc>
                  <a:txBody>
                    <a:bodyPr/>
                    <a:lstStyle/>
                    <a:p>
                      <a:pPr algn="ctr">
                        <a:defRPr sz="1300" b="1">
                          <a:solidFill>
                            <a:srgbClr val="FFFFFF"/>
                          </a:solidFill>
                          <a:latin typeface="Arial"/>
                        </a:defRPr>
                      </a:pPr>
                      <a:r>
                        <a:t>S.No</a:t>
                      </a:r>
                    </a:p>
                  </a:txBody>
                  <a:tcPr>
                    <a:solidFill>
                      <a:srgbClr val="F42B5A"/>
                    </a:solidFill>
                  </a:tcPr>
                </a:tc>
                <a:tc>
                  <a:txBody>
                    <a:bodyPr/>
                    <a:lstStyle/>
                    <a:p>
                      <a:pPr algn="l">
                        <a:defRPr sz="1300" b="1">
                          <a:solidFill>
                            <a:srgbClr val="FFFFFF"/>
                          </a:solidFill>
                          <a:latin typeface="Arial"/>
                        </a:defRPr>
                      </a:pPr>
                      <a:r>
                        <a:t>ARTICLE TITLE &amp; PUBLICATION DETAIL</a:t>
                      </a:r>
                    </a:p>
                  </a:txBody>
                  <a:tcPr>
                    <a:solidFill>
                      <a:srgbClr val="F42B5A"/>
                    </a:solidFill>
                  </a:tcPr>
                </a:tc>
                <a:tc>
                  <a:txBody>
                    <a:bodyPr/>
                    <a:lstStyle/>
                    <a:p>
                      <a:pPr algn="l">
                        <a:defRPr sz="1300" b="1">
                          <a:solidFill>
                            <a:srgbClr val="FFFFFF"/>
                          </a:solidFill>
                          <a:latin typeface="Arial"/>
                        </a:defRPr>
                      </a:pPr>
                      <a:r>
                        <a:t>METHODOLOGY USED</a:t>
                      </a:r>
                    </a:p>
                  </a:txBody>
                  <a:tcPr>
                    <a:solidFill>
                      <a:srgbClr val="F42B5A"/>
                    </a:solidFill>
                  </a:tcPr>
                </a:tc>
              </a:tr>
              <a:tr h="1584960">
                <a:tc>
                  <a:txBody>
                    <a:bodyPr/>
                    <a:lstStyle/>
                    <a:p>
                      <a:pPr algn="ctr">
                        <a:defRPr sz="1400" b="1">
                          <a:solidFill>
                            <a:srgbClr val="141928"/>
                          </a:solidFill>
                        </a:defRPr>
                      </a:pPr>
                      <a:r>
                        <a:t>1</a:t>
                      </a:r>
                    </a:p>
                  </a:txBody>
                  <a:tcPr>
                    <a:solidFill>
                      <a:srgbClr val="FEE6EB"/>
                    </a:solidFill>
                  </a:tcPr>
                </a:tc>
                <a:tc>
                  <a:txBody>
                    <a:bodyPr/>
                    <a:lstStyle/>
                    <a:p>
                      <a:pPr algn="l">
                        <a:defRPr sz="1150">
                          <a:solidFill>
                            <a:srgbClr val="141928"/>
                          </a:solidFill>
                        </a:defRPr>
                      </a:pPr>
                      <a:r>
                        <a:t>Predicting Student Performance Using Data Mining Techniques</a:t>
                      </a:r>
                    </a:p>
                    <a:p>
                      <a:pPr algn="l">
                        <a:defRPr sz="1150">
                          <a:solidFill>
                            <a:srgbClr val="141928"/>
                          </a:solidFill>
                        </a:defRPr>
                      </a:pPr>
                    </a:p>
                    <a:p>
                      <a:pPr algn="l">
                        <a:defRPr sz="1150">
                          <a:solidFill>
                            <a:srgbClr val="141928"/>
                          </a:solidFill>
                        </a:defRPr>
                      </a:pPr>
                      <a:r>
                        <a:t>Authors: P. Cortez and A. Silva</a:t>
                      </a:r>
                    </a:p>
                    <a:p>
                      <a:pPr algn="l">
                        <a:defRPr sz="1150">
                          <a:solidFill>
                            <a:srgbClr val="141928"/>
                          </a:solidFill>
                        </a:defRPr>
                      </a:pPr>
                      <a:r>
                        <a:t>Publication: Proceedings of 5th Future Business Technology Conference (FUBUTEC 2008), pp. 5-12.</a:t>
                      </a:r>
                    </a:p>
                  </a:txBody>
                  <a:tcPr>
                    <a:solidFill>
                      <a:srgbClr val="FEE6EB"/>
                    </a:solidFill>
                  </a:tcPr>
                </a:tc>
                <a:tc>
                  <a:txBody>
                    <a:bodyPr/>
                    <a:lstStyle/>
                    <a:p>
                      <a:pPr algn="l">
                        <a:defRPr sz="1150">
                          <a:solidFill>
                            <a:srgbClr val="141928"/>
                          </a:solidFill>
                        </a:defRPr>
                      </a:pPr>
                      <a:r>
                        <a:t>• Applied Decision Trees, Random Forests, Multi-Layer Perceptrons, and Support Vector Machines on secondary school student data.</a:t>
                      </a:r>
                    </a:p>
                    <a:p>
                      <a:pPr algn="l">
                        <a:defRPr sz="1150">
                          <a:solidFill>
                            <a:srgbClr val="141928"/>
                          </a:solidFill>
                        </a:defRPr>
                      </a:pPr>
                      <a:r>
                        <a:t>• Evaluated academic attributes including past grades (G1, G2), school absences, and demographic variables.</a:t>
                      </a:r>
                    </a:p>
                    <a:p>
                      <a:pPr algn="l">
                        <a:defRPr sz="1150">
                          <a:solidFill>
                            <a:srgbClr val="141928"/>
                          </a:solidFill>
                        </a:defRPr>
                      </a:pPr>
                      <a:r>
                        <a:t>• Concluded that past evaluation performance and class attendance are the two strongest predictors of final semester success.</a:t>
                      </a:r>
                    </a:p>
                    <a:p>
                      <a:pPr algn="l">
                        <a:defRPr sz="1150">
                          <a:solidFill>
                            <a:srgbClr val="141928"/>
                          </a:solidFill>
                        </a:defRPr>
                      </a:pPr>
                      <a:r>
                        <a:t>• Limitation: Focused purely on binary/two-class pass-fail without real-time multi-tier risk calibration or explainable counseling advice.</a:t>
                      </a:r>
                    </a:p>
                  </a:txBody>
                  <a:tcPr>
                    <a:solidFill>
                      <a:srgbClr val="FEE6EB"/>
                    </a:solidFill>
                  </a:tcPr>
                </a:tc>
              </a:tr>
              <a:tr h="1584960">
                <a:tc>
                  <a:txBody>
                    <a:bodyPr/>
                    <a:lstStyle/>
                    <a:p>
                      <a:pPr algn="ctr">
                        <a:defRPr sz="1400" b="1">
                          <a:solidFill>
                            <a:srgbClr val="141928"/>
                          </a:solidFill>
                        </a:defRPr>
                      </a:pPr>
                      <a:r>
                        <a:t>2</a:t>
                      </a:r>
                    </a:p>
                  </a:txBody>
                  <a:tcPr>
                    <a:solidFill>
                      <a:srgbClr val="FEE6EB"/>
                    </a:solidFill>
                  </a:tcPr>
                </a:tc>
                <a:tc>
                  <a:txBody>
                    <a:bodyPr/>
                    <a:lstStyle/>
                    <a:p>
                      <a:pPr algn="l">
                        <a:defRPr sz="1150">
                          <a:solidFill>
                            <a:srgbClr val="141928"/>
                          </a:solidFill>
                        </a:defRPr>
                      </a:pPr>
                      <a:r>
                        <a:t>Deep Learning Approaches for Predicting Student Academic Performance in Higher Education</a:t>
                      </a:r>
                    </a:p>
                    <a:p>
                      <a:pPr algn="l">
                        <a:defRPr sz="1150">
                          <a:solidFill>
                            <a:srgbClr val="141928"/>
                          </a:solidFill>
                        </a:defRPr>
                      </a:pPr>
                    </a:p>
                    <a:p>
                      <a:pPr algn="l">
                        <a:defRPr sz="1150">
                          <a:solidFill>
                            <a:srgbClr val="141928"/>
                          </a:solidFill>
                        </a:defRPr>
                      </a:pPr>
                      <a:r>
                        <a:t>Authors: M. Al-Shabandar et al.</a:t>
                      </a:r>
                    </a:p>
                    <a:p>
                      <a:pPr algn="l">
                        <a:defRPr sz="1150">
                          <a:solidFill>
                            <a:srgbClr val="141928"/>
                          </a:solidFill>
                        </a:defRPr>
                      </a:pPr>
                      <a:r>
                        <a:t>Publication: IEEE Access, Vol. 9, pp. 112450-112465, 2021.</a:t>
                      </a:r>
                    </a:p>
                  </a:txBody>
                  <a:tcPr>
                    <a:solidFill>
                      <a:srgbClr val="FEE6EB"/>
                    </a:solidFill>
                  </a:tcPr>
                </a:tc>
                <a:tc>
                  <a:txBody>
                    <a:bodyPr/>
                    <a:lstStyle/>
                    <a:p>
                      <a:pPr algn="l">
                        <a:defRPr sz="1150">
                          <a:solidFill>
                            <a:srgbClr val="141928"/>
                          </a:solidFill>
                        </a:defRPr>
                      </a:pPr>
                      <a:r>
                        <a:t>• Implemented Deep Feedforward Artificial Neural Networks (DNN) and Recurrent Neural Networks (LSTM) on higher education student datasets.</a:t>
                      </a:r>
                    </a:p>
                    <a:p>
                      <a:pPr algn="l">
                        <a:defRPr sz="1150">
                          <a:solidFill>
                            <a:srgbClr val="141928"/>
                          </a:solidFill>
                        </a:defRPr>
                      </a:pPr>
                      <a:r>
                        <a:t>• Processed virtual learning environment (VLE) interaction logs, homework submissions, and continuous assessment tests.</a:t>
                      </a:r>
                    </a:p>
                    <a:p>
                      <a:pPr algn="l">
                        <a:defRPr sz="1150">
                          <a:solidFill>
                            <a:srgbClr val="141928"/>
                          </a:solidFill>
                        </a:defRPr>
                      </a:pPr>
                      <a:r>
                        <a:t>• Demonstrated that Deep Neural Networks significantly outperform shallow models in capturing non-linear relationships across multiple continuous features.</a:t>
                      </a:r>
                    </a:p>
                    <a:p>
                      <a:pPr algn="l">
                        <a:defRPr sz="1150">
                          <a:solidFill>
                            <a:srgbClr val="141928"/>
                          </a:solidFill>
                        </a:defRPr>
                      </a:pPr>
                      <a:r>
                        <a:t>• Limitation: Lacked an explainable heuristic layer to translate complex neural weight outputs into human-understandable faculty mentoring guidance.</a:t>
                      </a:r>
                    </a:p>
                  </a:txBody>
                  <a:tcPr>
                    <a:solidFill>
                      <a:srgbClr val="FEE6E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LITERATURE REVIEW….</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1280160"/>
          <a:ext cx="10361980" cy="4754880"/>
        </p:xfrm>
        <a:graphic>
          <a:graphicData uri="http://schemas.openxmlformats.org/drawingml/2006/table">
            <a:tbl>
              <a:tblPr firstRow="1" bandRow="1">
                <a:tableStyleId>{5C22544A-7EE6-4342-B048-85BDC9FD1C3A}</a:tableStyleId>
              </a:tblPr>
              <a:tblGrid>
                <a:gridCol w="914400"/>
                <a:gridCol w="4723790"/>
                <a:gridCol w="4723790"/>
              </a:tblGrid>
              <a:tr h="1584960">
                <a:tc>
                  <a:txBody>
                    <a:bodyPr/>
                    <a:lstStyle/>
                    <a:p>
                      <a:pPr algn="ctr">
                        <a:defRPr sz="1300" b="1">
                          <a:solidFill>
                            <a:srgbClr val="FFFFFF"/>
                          </a:solidFill>
                          <a:latin typeface="Arial"/>
                        </a:defRPr>
                      </a:pPr>
                      <a:r>
                        <a:t>S.No</a:t>
                      </a:r>
                    </a:p>
                  </a:txBody>
                  <a:tcPr>
                    <a:solidFill>
                      <a:srgbClr val="F42B5A"/>
                    </a:solidFill>
                  </a:tcPr>
                </a:tc>
                <a:tc>
                  <a:txBody>
                    <a:bodyPr/>
                    <a:lstStyle/>
                    <a:p>
                      <a:pPr algn="l">
                        <a:defRPr sz="1300" b="1">
                          <a:solidFill>
                            <a:srgbClr val="FFFFFF"/>
                          </a:solidFill>
                          <a:latin typeface="Arial"/>
                        </a:defRPr>
                      </a:pPr>
                      <a:r>
                        <a:t>ARTICLE TITLE &amp; PUBLICATION DETAIL</a:t>
                      </a:r>
                    </a:p>
                  </a:txBody>
                  <a:tcPr>
                    <a:solidFill>
                      <a:srgbClr val="F42B5A"/>
                    </a:solidFill>
                  </a:tcPr>
                </a:tc>
                <a:tc>
                  <a:txBody>
                    <a:bodyPr/>
                    <a:lstStyle/>
                    <a:p>
                      <a:pPr algn="l">
                        <a:defRPr sz="1300" b="1">
                          <a:solidFill>
                            <a:srgbClr val="FFFFFF"/>
                          </a:solidFill>
                          <a:latin typeface="Arial"/>
                        </a:defRPr>
                      </a:pPr>
                      <a:r>
                        <a:t>METHODOLOGY USED</a:t>
                      </a:r>
                    </a:p>
                  </a:txBody>
                  <a:tcPr>
                    <a:solidFill>
                      <a:srgbClr val="F42B5A"/>
                    </a:solidFill>
                  </a:tcPr>
                </a:tc>
              </a:tr>
              <a:tr h="1584960">
                <a:tc>
                  <a:txBody>
                    <a:bodyPr/>
                    <a:lstStyle/>
                    <a:p>
                      <a:pPr algn="ctr">
                        <a:defRPr sz="1400" b="1">
                          <a:solidFill>
                            <a:srgbClr val="141928"/>
                          </a:solidFill>
                        </a:defRPr>
                      </a:pPr>
                      <a:r>
                        <a:t>3</a:t>
                      </a:r>
                    </a:p>
                  </a:txBody>
                  <a:tcPr>
                    <a:solidFill>
                      <a:srgbClr val="FEE6EB"/>
                    </a:solidFill>
                  </a:tcPr>
                </a:tc>
                <a:tc>
                  <a:txBody>
                    <a:bodyPr/>
                    <a:lstStyle/>
                    <a:p>
                      <a:pPr algn="l">
                        <a:defRPr sz="1150">
                          <a:solidFill>
                            <a:srgbClr val="141928"/>
                          </a:solidFill>
                        </a:defRPr>
                      </a:pPr>
                      <a:r>
                        <a:t>Early Warning Systems in Higher Education: A Systematic Review of Predictive Modeling Approaches</a:t>
                      </a:r>
                    </a:p>
                    <a:p>
                      <a:pPr algn="l">
                        <a:defRPr sz="1150">
                          <a:solidFill>
                            <a:srgbClr val="141928"/>
                          </a:solidFill>
                        </a:defRPr>
                      </a:pPr>
                    </a:p>
                    <a:p>
                      <a:pPr algn="l">
                        <a:defRPr sz="1150">
                          <a:solidFill>
                            <a:srgbClr val="141928"/>
                          </a:solidFill>
                        </a:defRPr>
                      </a:pPr>
                      <a:r>
                        <a:t>Authors: B. Albreiki, N. Zaki, and H. Alashwal</a:t>
                      </a:r>
                    </a:p>
                    <a:p>
                      <a:pPr algn="l">
                        <a:defRPr sz="1150">
                          <a:solidFill>
                            <a:srgbClr val="141928"/>
                          </a:solidFill>
                        </a:defRPr>
                      </a:pPr>
                      <a:r>
                        <a:t>Publication: Computers &amp; Education (Elsevier), Vol. 158, 2020.</a:t>
                      </a:r>
                    </a:p>
                  </a:txBody>
                  <a:tcPr>
                    <a:solidFill>
                      <a:srgbClr val="FEE6EB"/>
                    </a:solidFill>
                  </a:tcPr>
                </a:tc>
                <a:tc>
                  <a:txBody>
                    <a:bodyPr/>
                    <a:lstStyle/>
                    <a:p>
                      <a:pPr algn="l">
                        <a:defRPr sz="1150">
                          <a:solidFill>
                            <a:srgbClr val="141928"/>
                          </a:solidFill>
                        </a:defRPr>
                      </a:pPr>
                      <a:r>
                        <a:t>• Comprehensive survey analyzing 84 predictive educational data mining systems deployed in universities worldwide.</a:t>
                      </a:r>
                    </a:p>
                    <a:p>
                      <a:pPr algn="l">
                        <a:defRPr sz="1150">
                          <a:solidFill>
                            <a:srgbClr val="141928"/>
                          </a:solidFill>
                        </a:defRPr>
                      </a:pPr>
                      <a:r>
                        <a:t>• Identified that static threshold-based rules (e.g. attendance &lt; 75%) create high false-alarm rates and miss students with combined borderline deficiencies.</a:t>
                      </a:r>
                    </a:p>
                    <a:p>
                      <a:pPr algn="l">
                        <a:defRPr sz="1150">
                          <a:solidFill>
                            <a:srgbClr val="141928"/>
                          </a:solidFill>
                        </a:defRPr>
                      </a:pPr>
                      <a:r>
                        <a:t>• Highlighted the necessity of multi-tier risk categorization (Low, Medium, High Risk) over binary classification to enable prioritized institutional resource allocation.</a:t>
                      </a:r>
                    </a:p>
                    <a:p>
                      <a:pPr algn="l">
                        <a:defRPr sz="1150">
                          <a:solidFill>
                            <a:srgbClr val="141928"/>
                          </a:solidFill>
                        </a:defRPr>
                      </a:pPr>
                      <a:r>
                        <a:t>• Emphasized that predictive systems must be coupled with actionable counseling recommendations to achieve real educational retention.</a:t>
                      </a:r>
                    </a:p>
                  </a:txBody>
                  <a:tcPr>
                    <a:solidFill>
                      <a:srgbClr val="FEE6EB"/>
                    </a:solidFill>
                  </a:tcPr>
                </a:tc>
              </a:tr>
              <a:tr h="1584960">
                <a:tc>
                  <a:txBody>
                    <a:bodyPr/>
                    <a:lstStyle/>
                    <a:p>
                      <a:pPr algn="ctr">
                        <a:defRPr sz="1400" b="1">
                          <a:solidFill>
                            <a:srgbClr val="141928"/>
                          </a:solidFill>
                        </a:defRPr>
                      </a:pPr>
                      <a:r>
                        <a:t>4</a:t>
                      </a:r>
                    </a:p>
                  </a:txBody>
                  <a:tcPr>
                    <a:solidFill>
                      <a:srgbClr val="FEE6EB"/>
                    </a:solidFill>
                  </a:tcPr>
                </a:tc>
                <a:tc>
                  <a:txBody>
                    <a:bodyPr/>
                    <a:lstStyle/>
                    <a:p>
                      <a:pPr algn="l">
                        <a:defRPr sz="1150">
                          <a:solidFill>
                            <a:srgbClr val="141928"/>
                          </a:solidFill>
                        </a:defRPr>
                      </a:pPr>
                      <a:r>
                        <a:t>Explainable AI for Student Dropout Prediction in Engineering Curricula</a:t>
                      </a:r>
                    </a:p>
                    <a:p>
                      <a:pPr algn="l">
                        <a:defRPr sz="1150">
                          <a:solidFill>
                            <a:srgbClr val="141928"/>
                          </a:solidFill>
                        </a:defRPr>
                      </a:pPr>
                    </a:p>
                    <a:p>
                      <a:pPr algn="l">
                        <a:defRPr sz="1150">
                          <a:solidFill>
                            <a:srgbClr val="141928"/>
                          </a:solidFill>
                        </a:defRPr>
                      </a:pPr>
                      <a:r>
                        <a:t>Authors: R. Conijn, A. Snijders, and U. Matzat</a:t>
                      </a:r>
                    </a:p>
                    <a:p>
                      <a:pPr algn="l">
                        <a:defRPr sz="1150">
                          <a:solidFill>
                            <a:srgbClr val="141928"/>
                          </a:solidFill>
                        </a:defRPr>
                      </a:pPr>
                      <a:r>
                        <a:t>Publication: Springer Journal of Educational Technology Research, 2022.</a:t>
                      </a:r>
                    </a:p>
                  </a:txBody>
                  <a:tcPr>
                    <a:solidFill>
                      <a:srgbClr val="FEE6EB"/>
                    </a:solidFill>
                  </a:tcPr>
                </a:tc>
                <a:tc>
                  <a:txBody>
                    <a:bodyPr/>
                    <a:lstStyle/>
                    <a:p>
                      <a:pPr algn="l">
                        <a:defRPr sz="1150">
                          <a:solidFill>
                            <a:srgbClr val="141928"/>
                          </a:solidFill>
                        </a:defRPr>
                      </a:pPr>
                      <a:r>
                        <a:t>• Integrated model-agnostic feature attribution techniques with ensemble decision classifiers to extract key risk contributors in technical engineering courses.</a:t>
                      </a:r>
                    </a:p>
                    <a:p>
                      <a:pPr algn="l">
                        <a:defRPr sz="1150">
                          <a:solidFill>
                            <a:srgbClr val="141928"/>
                          </a:solidFill>
                        </a:defRPr>
                      </a:pPr>
                      <a:r>
                        <a:t>• Proved that black-box predictive models induce skepticism among faculty mentors, whereas transparent factor decomposition encourages proactive counseling.</a:t>
                      </a:r>
                    </a:p>
                    <a:p>
                      <a:pPr algn="l">
                        <a:defRPr sz="1150">
                          <a:solidFill>
                            <a:srgbClr val="141928"/>
                          </a:solidFill>
                        </a:defRPr>
                      </a:pPr>
                      <a:r>
                        <a:t>• Demonstrated that early intervention before mid-term assessments yields up to a 34% reduction in semester course failures.</a:t>
                      </a:r>
                    </a:p>
                    <a:p>
                      <a:pPr algn="l">
                        <a:defRPr sz="1150">
                          <a:solidFill>
                            <a:srgbClr val="141928"/>
                          </a:solidFill>
                        </a:defRPr>
                      </a:pPr>
                      <a:r>
                        <a:t>• Identified that accumulative backlog burden is the single highest predictor of eventual engineering degree non-completion.</a:t>
                      </a:r>
                    </a:p>
                  </a:txBody>
                  <a:tcPr>
                    <a:solidFill>
                      <a:srgbClr val="FEE6E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LITERATURE REVIEW….</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1280160"/>
          <a:ext cx="10361980" cy="4754880"/>
        </p:xfrm>
        <a:graphic>
          <a:graphicData uri="http://schemas.openxmlformats.org/drawingml/2006/table">
            <a:tbl>
              <a:tblPr firstRow="1" bandRow="1">
                <a:tableStyleId>{5C22544A-7EE6-4342-B048-85BDC9FD1C3A}</a:tableStyleId>
              </a:tblPr>
              <a:tblGrid>
                <a:gridCol w="914400"/>
                <a:gridCol w="4723790"/>
                <a:gridCol w="4723790"/>
              </a:tblGrid>
              <a:tr h="1584960">
                <a:tc>
                  <a:txBody>
                    <a:bodyPr/>
                    <a:lstStyle/>
                    <a:p>
                      <a:pPr algn="ctr">
                        <a:defRPr sz="1300" b="1">
                          <a:solidFill>
                            <a:srgbClr val="FFFFFF"/>
                          </a:solidFill>
                          <a:latin typeface="Arial"/>
                        </a:defRPr>
                      </a:pPr>
                      <a:r>
                        <a:t>S.No</a:t>
                      </a:r>
                    </a:p>
                  </a:txBody>
                  <a:tcPr>
                    <a:solidFill>
                      <a:srgbClr val="F42B5A"/>
                    </a:solidFill>
                  </a:tcPr>
                </a:tc>
                <a:tc>
                  <a:txBody>
                    <a:bodyPr/>
                    <a:lstStyle/>
                    <a:p>
                      <a:pPr algn="l">
                        <a:defRPr sz="1300" b="1">
                          <a:solidFill>
                            <a:srgbClr val="FFFFFF"/>
                          </a:solidFill>
                          <a:latin typeface="Arial"/>
                        </a:defRPr>
                      </a:pPr>
                      <a:r>
                        <a:t>ARTICLE TITLE &amp; PUBLICATION DETAIL</a:t>
                      </a:r>
                    </a:p>
                  </a:txBody>
                  <a:tcPr>
                    <a:solidFill>
                      <a:srgbClr val="F42B5A"/>
                    </a:solidFill>
                  </a:tcPr>
                </a:tc>
                <a:tc>
                  <a:txBody>
                    <a:bodyPr/>
                    <a:lstStyle/>
                    <a:p>
                      <a:pPr algn="l">
                        <a:defRPr sz="1300" b="1">
                          <a:solidFill>
                            <a:srgbClr val="FFFFFF"/>
                          </a:solidFill>
                          <a:latin typeface="Arial"/>
                        </a:defRPr>
                      </a:pPr>
                      <a:r>
                        <a:t>METHODOLOGY USED</a:t>
                      </a:r>
                    </a:p>
                  </a:txBody>
                  <a:tcPr>
                    <a:solidFill>
                      <a:srgbClr val="F42B5A"/>
                    </a:solidFill>
                  </a:tcPr>
                </a:tc>
              </a:tr>
              <a:tr h="1584960">
                <a:tc>
                  <a:txBody>
                    <a:bodyPr/>
                    <a:lstStyle/>
                    <a:p>
                      <a:pPr algn="ctr">
                        <a:defRPr sz="1400" b="1">
                          <a:solidFill>
                            <a:srgbClr val="141928"/>
                          </a:solidFill>
                        </a:defRPr>
                      </a:pPr>
                      <a:r>
                        <a:t>5</a:t>
                      </a:r>
                    </a:p>
                  </a:txBody>
                  <a:tcPr>
                    <a:solidFill>
                      <a:srgbClr val="FEE6EB"/>
                    </a:solidFill>
                  </a:tcPr>
                </a:tc>
                <a:tc>
                  <a:txBody>
                    <a:bodyPr/>
                    <a:lstStyle/>
                    <a:p>
                      <a:pPr algn="l">
                        <a:defRPr sz="1150">
                          <a:solidFill>
                            <a:srgbClr val="141928"/>
                          </a:solidFill>
                        </a:defRPr>
                      </a:pPr>
                      <a:r>
                        <a:t>Comparative Evaluation of Machine Learning and Deep Learning Algorithms for Academic Risk Classification</a:t>
                      </a:r>
                    </a:p>
                    <a:p>
                      <a:pPr algn="l">
                        <a:defRPr sz="1150">
                          <a:solidFill>
                            <a:srgbClr val="141928"/>
                          </a:solidFill>
                        </a:defRPr>
                      </a:pPr>
                    </a:p>
                    <a:p>
                      <a:pPr algn="l">
                        <a:defRPr sz="1150">
                          <a:solidFill>
                            <a:srgbClr val="141928"/>
                          </a:solidFill>
                        </a:defRPr>
                      </a:pPr>
                      <a:r>
                        <a:t>Authors: S. K. Mohapatra and B. K. Patel</a:t>
                      </a:r>
                    </a:p>
                    <a:p>
                      <a:pPr algn="l">
                        <a:defRPr sz="1150">
                          <a:solidFill>
                            <a:srgbClr val="141928"/>
                          </a:solidFill>
                        </a:defRPr>
                      </a:pPr>
                      <a:r>
                        <a:t>Publication: ACM Transactions on Computing Education, Vol. 23, No. 3, 2023.</a:t>
                      </a:r>
                    </a:p>
                  </a:txBody>
                  <a:tcPr>
                    <a:solidFill>
                      <a:srgbClr val="FEE6EB"/>
                    </a:solidFill>
                  </a:tcPr>
                </a:tc>
                <a:tc>
                  <a:txBody>
                    <a:bodyPr/>
                    <a:lstStyle/>
                    <a:p>
                      <a:pPr algn="l">
                        <a:defRPr sz="1150">
                          <a:solidFill>
                            <a:srgbClr val="141928"/>
                          </a:solidFill>
                        </a:defRPr>
                      </a:pPr>
                      <a:r>
                        <a:t>• Benchmarked Logistic Regression, Naive Bayes, Support Vector Machines, Random Forests, and Multi-Layer Perceptrons on 1,500+ engineering student records.</a:t>
                      </a:r>
                    </a:p>
                    <a:p>
                      <a:pPr algn="l">
                        <a:defRPr sz="1150">
                          <a:solidFill>
                            <a:srgbClr val="141928"/>
                          </a:solidFill>
                        </a:defRPr>
                      </a:pPr>
                      <a:r>
                        <a:t>• Established that Deep Neural Networks equipped with Batch Normalization and Dropout achieved superior generalization and higher macro F1-scores on minority high-risk classes.</a:t>
                      </a:r>
                    </a:p>
                    <a:p>
                      <a:pPr algn="l">
                        <a:defRPr sz="1150">
                          <a:solidFill>
                            <a:srgbClr val="141928"/>
                          </a:solidFill>
                        </a:defRPr>
                      </a:pPr>
                      <a:r>
                        <a:t>• Found that traditional linear models suffer when modeling non-linear trade-offs (e.g., high study hours compensating for low assignment scores up to statutory limits).</a:t>
                      </a:r>
                    </a:p>
                    <a:p>
                      <a:pPr algn="l">
                        <a:defRPr sz="1150">
                          <a:solidFill>
                            <a:srgbClr val="141928"/>
                          </a:solidFill>
                        </a:defRPr>
                      </a:pPr>
                      <a:r>
                        <a:t>• Recommended combining Z-score normalization with Softmax outputs for calibrated multi-class educational risk modeling.</a:t>
                      </a:r>
                    </a:p>
                  </a:txBody>
                  <a:tcPr>
                    <a:solidFill>
                      <a:srgbClr val="FEE6EB"/>
                    </a:solidFill>
                  </a:tcPr>
                </a:tc>
              </a:tr>
              <a:tr h="1584960">
                <a:tc>
                  <a:txBody>
                    <a:bodyPr/>
                    <a:lstStyle/>
                    <a:p>
                      <a:pPr algn="ctr">
                        <a:defRPr sz="1400" b="1">
                          <a:solidFill>
                            <a:srgbClr val="141928"/>
                          </a:solidFill>
                        </a:defRPr>
                      </a:pPr>
                      <a:r>
                        <a:t>6</a:t>
                      </a:r>
                    </a:p>
                  </a:txBody>
                  <a:tcPr>
                    <a:solidFill>
                      <a:srgbClr val="FEE6EB"/>
                    </a:solidFill>
                  </a:tcPr>
                </a:tc>
                <a:tc>
                  <a:txBody>
                    <a:bodyPr/>
                    <a:lstStyle/>
                    <a:p>
                      <a:pPr algn="l">
                        <a:defRPr sz="1150">
                          <a:solidFill>
                            <a:srgbClr val="141928"/>
                          </a:solidFill>
                        </a:defRPr>
                      </a:pPr>
                      <a:r>
                        <a:t>Continuous Assessment and Attendance Analytics for Early Academic Intervention</a:t>
                      </a:r>
                    </a:p>
                    <a:p>
                      <a:pPr algn="l">
                        <a:defRPr sz="1150">
                          <a:solidFill>
                            <a:srgbClr val="141928"/>
                          </a:solidFill>
                        </a:defRPr>
                      </a:pPr>
                    </a:p>
                    <a:p>
                      <a:pPr algn="l">
                        <a:defRPr sz="1150">
                          <a:solidFill>
                            <a:srgbClr val="141928"/>
                          </a:solidFill>
                        </a:defRPr>
                      </a:pPr>
                      <a:r>
                        <a:t>Authors: J. L. Rastrollo-Guerrero, J. A. Gomez-Pulido, and A. Duran-Dominguez</a:t>
                      </a:r>
                    </a:p>
                    <a:p>
                      <a:pPr algn="l">
                        <a:defRPr sz="1150">
                          <a:solidFill>
                            <a:srgbClr val="141928"/>
                          </a:solidFill>
                        </a:defRPr>
                      </a:pPr>
                      <a:r>
                        <a:t>Publication: IEEE Transactions on Learning Technologies, Vol. 16, Issue 4, 2024.</a:t>
                      </a:r>
                    </a:p>
                  </a:txBody>
                  <a:tcPr>
                    <a:solidFill>
                      <a:srgbClr val="FEE6EB"/>
                    </a:solidFill>
                  </a:tcPr>
                </a:tc>
                <a:tc>
                  <a:txBody>
                    <a:bodyPr/>
                    <a:lstStyle/>
                    <a:p>
                      <a:pPr algn="l">
                        <a:defRPr sz="1150">
                          <a:solidFill>
                            <a:srgbClr val="141928"/>
                          </a:solidFill>
                        </a:defRPr>
                      </a:pPr>
                      <a:r>
                        <a:t>• Conducted longitudinal studies analyzing the exact statistical correlation between lecture attendance deficits and semester arrear accumulation.</a:t>
                      </a:r>
                    </a:p>
                    <a:p>
                      <a:pPr algn="l">
                        <a:defRPr sz="1150">
                          <a:solidFill>
                            <a:srgbClr val="141928"/>
                          </a:solidFill>
                        </a:defRPr>
                      </a:pPr>
                      <a:r>
                        <a:t>• Confirmed that continuous internal assessments combined with punctual assignment submissions provide an accurate leading indicator of final exam competence.</a:t>
                      </a:r>
                    </a:p>
                    <a:p>
                      <a:pPr algn="l">
                        <a:defRPr sz="1150">
                          <a:solidFill>
                            <a:srgbClr val="141928"/>
                          </a:solidFill>
                        </a:defRPr>
                      </a:pPr>
                      <a:r>
                        <a:t>• Recommended implementing self-service student portals to promote student agency and self-regulated study habits alongside faculty counseling dashboards.</a:t>
                      </a:r>
                    </a:p>
                  </a:txBody>
                  <a:tcPr>
                    <a:solidFill>
                      <a:srgbClr val="FEE6E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PROPOSED METHODOLOGY</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0728655" cy="5120640"/>
          </a:xfrm>
          <a:prstGeom prst="rect">
            <a:avLst/>
          </a:prstGeom>
          <a:noFill/>
        </p:spPr>
        <p:txBody>
          <a:bodyPr wrap="square">
            <a:spAutoFit/>
          </a:bodyPr>
          <a:lstStyle/>
          <a:p>
            <a:pPr>
              <a:defRPr sz="1200" b="1">
                <a:solidFill>
                  <a:srgbClr val="BE1E3C"/>
                </a:solidFill>
              </a:defRPr>
            </a:pPr>
            <a:r>
              <a:t>1. Dataset Preparation &amp; Feature Engineering:</a:t>
            </a:r>
          </a:p>
          <a:p>
            <a:pPr>
              <a:defRPr sz="1050">
                <a:solidFill>
                  <a:srgbClr val="141928"/>
                </a:solidFill>
              </a:defRPr>
            </a:pPr>
            <a:r>
              <a:t>   • Curated a realistic engineering academic dataset of 1,798 student records modeled on the UCI Student Performance methodology and university accreditation standards.</a:t>
            </a:r>
          </a:p>
          <a:p>
            <a:pPr>
              <a:defRPr sz="1050">
                <a:solidFill>
                  <a:srgbClr val="141928"/>
                </a:solidFill>
              </a:defRPr>
            </a:pPr>
            <a:r>
              <a:t>   • Incorporates 10 continuous academic and behavioral indicators: Attendance % (35-100%), Internal Marks (20-98), Assignment Score (25-100), Previous GPA (3.5-9.9), Weekly Study Hours (1.5-36 hrs), Backlogs (0-5), Assignment Submission Rate (30-100%), Engagement Score (1.2-10), Historical Failures (0-4), and Exam Score (18-99).</a:t>
            </a:r>
          </a:p>
          <a:p>
            <a:pPr>
              <a:defRPr sz="1050">
                <a:solidFill>
                  <a:srgbClr val="141928"/>
                </a:solidFill>
              </a:defRPr>
            </a:pPr>
            <a:r>
              <a:t>   • Target distribution partitioned into 3 calibrated tiers: LOW RISK (36.9%), MEDIUM RISK (22.1%), and HIGH RISK (41.0%).</a:t>
            </a:r>
          </a:p>
          <a:p>
            <a:pPr>
              <a:defRPr sz="1200" b="1">
                <a:solidFill>
                  <a:srgbClr val="BE1E3C"/>
                </a:solidFill>
              </a:defRPr>
            </a:pPr>
            <a:r>
              <a:t>2. Preprocessing &amp; Normalization Pipeline:</a:t>
            </a:r>
          </a:p>
          <a:p>
            <a:pPr>
              <a:defRPr sz="1050">
                <a:solidFill>
                  <a:srgbClr val="141928"/>
                </a:solidFill>
              </a:defRPr>
            </a:pPr>
            <a:r>
              <a:t>   • Partitioned dataset into an 80% training set (1,438 samples) and 20% unseen test set (360 samples) using stratified sampling to preserve class balance.</a:t>
            </a:r>
          </a:p>
          <a:p>
            <a:pPr>
              <a:defRPr sz="1050">
                <a:solidFill>
                  <a:srgbClr val="141928"/>
                </a:solidFill>
              </a:defRPr>
            </a:pPr>
            <a:r>
              <a:t>   • Applied StandardScaler Z-Score Normalization (z = (x - μ) / σ) fitted exclusively on training data to prevent data leakage and ensure symmetric loss contours.</a:t>
            </a:r>
          </a:p>
          <a:p>
            <a:pPr>
              <a:defRPr sz="1200" b="1">
                <a:solidFill>
                  <a:srgbClr val="BE1E3C"/>
                </a:solidFill>
              </a:defRPr>
            </a:pPr>
            <a:r>
              <a:t>3. Deep Neural Network (DNN) Architecture &amp; Training:</a:t>
            </a:r>
          </a:p>
          <a:p>
            <a:pPr>
              <a:defRPr sz="1050">
                <a:solidFill>
                  <a:srgbClr val="141928"/>
                </a:solidFill>
              </a:defRPr>
            </a:pPr>
            <a:r>
              <a:t>   • Input Layer: 10 standardized continuous feature nodes.</a:t>
            </a:r>
          </a:p>
          <a:p>
            <a:pPr>
              <a:defRPr sz="1050">
                <a:solidFill>
                  <a:srgbClr val="141928"/>
                </a:solidFill>
              </a:defRPr>
            </a:pPr>
            <a:r>
              <a:t>   • Hidden Layer 1: 64 units with ReLU activation, Batch Normalization, Dropout (rate = 0.3), and L2 regularization (λ = 0.001) to eliminate internal covariate shift.</a:t>
            </a:r>
          </a:p>
          <a:p>
            <a:pPr>
              <a:defRPr sz="1050">
                <a:solidFill>
                  <a:srgbClr val="141928"/>
                </a:solidFill>
              </a:defRPr>
            </a:pPr>
            <a:r>
              <a:t>   • Hidden Layer 2: 32 units with ReLU activation, Dropout (rate = 0.2), and L2 regularization (λ = 0.001) for latent representation distillation.</a:t>
            </a:r>
          </a:p>
          <a:p>
            <a:pPr>
              <a:defRPr sz="1050">
                <a:solidFill>
                  <a:srgbClr val="141928"/>
                </a:solidFill>
              </a:defRPr>
            </a:pPr>
            <a:r>
              <a:t>   • Hidden Layer 3: 16 units with ReLU activation to compress feature abstractions into risk classification logits.</a:t>
            </a:r>
          </a:p>
          <a:p>
            <a:pPr>
              <a:defRPr sz="1050">
                <a:solidFill>
                  <a:srgbClr val="141928"/>
                </a:solidFill>
              </a:defRPr>
            </a:pPr>
            <a:r>
              <a:t>   • Output Layer: 3 units with Softmax Activation (P(Y = k | x) = exp(s_k) / Σ exp(s_j)) computing posterior probabilities for Low, Medium, and High Risk tiers.</a:t>
            </a:r>
          </a:p>
          <a:p>
            <a:pPr>
              <a:defRPr sz="1050">
                <a:solidFill>
                  <a:srgbClr val="141928"/>
                </a:solidFill>
              </a:defRPr>
            </a:pPr>
            <a:r>
              <a:t>   • Optimization: Adam optimizer (lr = 0.001) minimizing Sparse Categorical Cross-Entropy loss with EarlyStopping (patience = 14) and ReduceLROnPlateau.</a:t>
            </a:r>
          </a:p>
          <a:p>
            <a:pPr>
              <a:defRPr sz="1200" b="1">
                <a:solidFill>
                  <a:srgbClr val="BE1E3C"/>
                </a:solidFill>
              </a:defRPr>
            </a:pPr>
            <a:r>
              <a:t>4. Explainability, Web Platform &amp; Deployment:</a:t>
            </a:r>
          </a:p>
          <a:p>
            <a:pPr>
              <a:defRPr sz="1050">
                <a:solidFill>
                  <a:srgbClr val="141928"/>
                </a:solidFill>
              </a:defRPr>
            </a:pPr>
            <a:r>
              <a:t>   • Explainable Mentoring Engine: Evaluates inputs against university statutory cutoffs (&lt;75% attendance, &lt;40% internal marks, backlogs ≥ 2) to generate personalized remedial advice.</a:t>
            </a:r>
          </a:p>
          <a:p>
            <a:pPr>
              <a:defRPr sz="1050">
                <a:solidFill>
                  <a:srgbClr val="141928"/>
                </a:solidFill>
              </a:defRPr>
            </a:pPr>
            <a:r>
              <a:t>   • Full-Stack Deployment: Python Flask web server, SQLite relational database (students.db), Chart.js dynamic visualizations, and printable official student dossiers.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ARCHITECTURE DIAGRAM</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_diagram.png"/>
          <p:cNvPicPr>
            <a:picLocks noChangeAspect="1"/>
          </p:cNvPicPr>
          <p:nvPr/>
        </p:nvPicPr>
        <p:blipFill>
          <a:blip r:embed="rId2"/>
          <a:stretch>
            <a:fillRect/>
          </a:stretch>
        </p:blipFill>
        <p:spPr>
          <a:xfrm>
            <a:off x="731520" y="1188720"/>
            <a:ext cx="10728655"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SOFTWARE /HARDWARE REQUIREMENTS</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5120640" cy="5029200"/>
          </a:xfrm>
          <a:prstGeom prst="rect">
            <a:avLst/>
          </a:prstGeom>
          <a:noFill/>
        </p:spPr>
        <p:txBody>
          <a:bodyPr wrap="square">
            <a:spAutoFit/>
          </a:bodyPr>
          <a:lstStyle/>
          <a:p>
            <a:pPr>
              <a:defRPr sz="1500" b="1">
                <a:solidFill>
                  <a:srgbClr val="BE1E3C"/>
                </a:solidFill>
              </a:defRPr>
            </a:pPr>
            <a:r>
              <a:t>SOFTWARE REQUIREMENTS:</a:t>
            </a:r>
          </a:p>
          <a:p>
            <a:pPr>
              <a:defRPr sz="1100">
                <a:solidFill>
                  <a:srgbClr val="141928"/>
                </a:solidFill>
              </a:defRPr>
            </a:pPr>
            <a:r>
              <a:t>•  Operating System: Windows 10 / 11 (64-bit) or Linux / macOS</a:t>
            </a:r>
          </a:p>
          <a:p>
            <a:pPr>
              <a:defRPr sz="1100">
                <a:solidFill>
                  <a:srgbClr val="141928"/>
                </a:solidFill>
              </a:defRPr>
            </a:pPr>
            <a:r>
              <a:t>•  Programming Language: Python 3.11 (64-bit)</a:t>
            </a:r>
          </a:p>
          <a:p>
            <a:pPr>
              <a:defRPr sz="1100">
                <a:solidFill>
                  <a:srgbClr val="141928"/>
                </a:solidFill>
              </a:defRPr>
            </a:pPr>
            <a:r>
              <a:t>•  Deep Learning Framework: TensorFlow 2.21 / Keras (Sequential DNN)</a:t>
            </a:r>
          </a:p>
          <a:p>
            <a:pPr>
              <a:defRPr sz="1100">
                <a:solidFill>
                  <a:srgbClr val="141928"/>
                </a:solidFill>
              </a:defRPr>
            </a:pPr>
            <a:r>
              <a:t>•  Machine Learning Library: Scikit-learn 1.9 (StandardScaler, Metrics)</a:t>
            </a:r>
          </a:p>
          <a:p>
            <a:pPr>
              <a:defRPr sz="1100">
                <a:solidFill>
                  <a:srgbClr val="141928"/>
                </a:solidFill>
              </a:defRPr>
            </a:pPr>
            <a:r>
              <a:t>•  Data Manipulation: Pandas 3.0, NumPy 2.4</a:t>
            </a:r>
          </a:p>
          <a:p>
            <a:pPr>
              <a:defRPr sz="1100">
                <a:solidFill>
                  <a:srgbClr val="141928"/>
                </a:solidFill>
              </a:defRPr>
            </a:pPr>
            <a:r>
              <a:t>•  Web Application Framework: Flask 3.1 (Jinja2 Templates, Werkzeug)</a:t>
            </a:r>
          </a:p>
          <a:p>
            <a:pPr>
              <a:defRPr sz="1100">
                <a:solidFill>
                  <a:srgbClr val="141928"/>
                </a:solidFill>
              </a:defRPr>
            </a:pPr>
            <a:r>
              <a:t>•  Database Engine: SQLite 3 (Serverless Relational DB)</a:t>
            </a:r>
          </a:p>
          <a:p>
            <a:pPr>
              <a:defRPr sz="1100">
                <a:solidFill>
                  <a:srgbClr val="141928"/>
                </a:solidFill>
              </a:defRPr>
            </a:pPr>
            <a:r>
              <a:t>•  Data Visualization: Matplotlib 3.11, Seaborn 0.13, Chart.js</a:t>
            </a:r>
          </a:p>
          <a:p>
            <a:pPr>
              <a:defRPr sz="1100">
                <a:solidFill>
                  <a:srgbClr val="141928"/>
                </a:solidFill>
              </a:defRPr>
            </a:pPr>
            <a:r>
              <a:t>•  Web Technologies: HTML5, Custom CSS3 (Glassmorphism), JS</a:t>
            </a:r>
          </a:p>
          <a:p>
            <a:pPr>
              <a:defRPr sz="1100">
                <a:solidFill>
                  <a:srgbClr val="141928"/>
                </a:solidFill>
              </a:defRPr>
            </a:pPr>
            <a:r>
              <a:t>•  Development Environment: VS Code / Antigravity IDE, PowerShell</a:t>
            </a:r>
          </a:p>
        </p:txBody>
      </p:sp>
      <p:sp>
        <p:nvSpPr>
          <p:cNvPr id="6" name="TextBox 5"/>
          <p:cNvSpPr txBox="1"/>
          <p:nvPr/>
        </p:nvSpPr>
        <p:spPr>
          <a:xfrm>
            <a:off x="6217920" y="1188720"/>
            <a:ext cx="5120640" cy="5029200"/>
          </a:xfrm>
          <a:prstGeom prst="rect">
            <a:avLst/>
          </a:prstGeom>
          <a:noFill/>
        </p:spPr>
        <p:txBody>
          <a:bodyPr wrap="square">
            <a:spAutoFit/>
          </a:bodyPr>
          <a:lstStyle/>
          <a:p>
            <a:pPr>
              <a:defRPr sz="1500" b="1">
                <a:solidFill>
                  <a:srgbClr val="BE1E3C"/>
                </a:solidFill>
              </a:defRPr>
            </a:pPr>
            <a:r>
              <a:t>HARDWARE REQUIREMENTS:</a:t>
            </a:r>
          </a:p>
          <a:p>
            <a:pPr>
              <a:defRPr sz="1100">
                <a:solidFill>
                  <a:srgbClr val="141928"/>
                </a:solidFill>
              </a:defRPr>
            </a:pPr>
            <a:r>
              <a:t>•  Processor: Intel Core i3 / i5 / i7 or AMD Ryzen 3 / 5 / 7 (2.0 GHz or higher)</a:t>
            </a:r>
          </a:p>
          <a:p>
            <a:pPr>
              <a:defRPr sz="1100">
                <a:solidFill>
                  <a:srgbClr val="141928"/>
                </a:solidFill>
              </a:defRPr>
            </a:pPr>
            <a:r>
              <a:t>•  System Memory (RAM): 4 GB minimum (8 GB recommended for Deep Learning workflows)</a:t>
            </a:r>
          </a:p>
          <a:p>
            <a:pPr>
              <a:defRPr sz="1100">
                <a:solidFill>
                  <a:srgbClr val="141928"/>
                </a:solidFill>
              </a:defRPr>
            </a:pPr>
            <a:r>
              <a:t>•  Storage (Disk Space): 10 GB minimum available storage (SSD recommended)</a:t>
            </a:r>
          </a:p>
          <a:p>
            <a:pPr>
              <a:defRPr sz="1100">
                <a:solidFill>
                  <a:srgbClr val="141928"/>
                </a:solidFill>
              </a:defRPr>
            </a:pPr>
            <a:r>
              <a:t>•  Display Resolution: 1366 × 768 minimum (1920 × 1080 Full HD recommended)</a:t>
            </a:r>
          </a:p>
          <a:p>
            <a:pPr>
              <a:defRPr sz="1100">
                <a:solidFill>
                  <a:srgbClr val="141928"/>
                </a:solidFill>
              </a:defRPr>
            </a:pPr>
            <a:r>
              <a:t>•  Network Interface: Standard Wi-Fi / Ethernet adapter for browser web access</a:t>
            </a:r>
          </a:p>
          <a:p>
            <a:pPr>
              <a:defRPr sz="1100">
                <a:solidFill>
                  <a:srgbClr val="141928"/>
                </a:solidFill>
              </a:defRPr>
            </a:pPr>
            <a:r>
              <a:t>•  Target Platform: Standard College Student / Faculty Laptop or Desktop PC</a:t>
            </a:r>
          </a:p>
          <a:p>
            <a:br/>
            <a:pPr>
              <a:defRPr sz="1200" b="1">
                <a:solidFill>
                  <a:srgbClr val="281446"/>
                </a:solidFill>
              </a:defRPr>
            </a:pPr>
            <a:r>
              <a:t>DEPLOYMENT HIGHLIGHT:</a:t>
            </a:r>
          </a:p>
          <a:p>
            <a:pPr>
              <a:defRPr sz="1050">
                <a:solidFill>
                  <a:srgbClr val="141928"/>
                </a:solidFill>
              </a:defRPr>
            </a:pPr>
            <a:r>
              <a:t>•  Optimized with CPU-vectorized TensorFlow and lightweight SQLite storage, allowing full offline execution on standard student laptops without requiring specialized GPU hardware.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a:spAutoFit/>
          </a:bodyPr>
          <a:lstStyle/>
          <a:p>
            <a:pPr algn="ctr">
              <a:defRPr sz="2400" b="1">
                <a:solidFill>
                  <a:srgbClr val="141928"/>
                </a:solidFill>
                <a:latin typeface="Arial"/>
              </a:defRPr>
            </a:pPr>
            <a:r>
              <a:t>REFERENCES</a:t>
            </a:r>
          </a:p>
        </p:txBody>
      </p:sp>
      <p:sp>
        <p:nvSpPr>
          <p:cNvPr id="4" name="Rectangle 3"/>
          <p:cNvSpPr/>
          <p:nvPr/>
        </p:nvSpPr>
        <p:spPr>
          <a:xfrm>
            <a:off x="0" y="6537960"/>
            <a:ext cx="12191695" cy="320040"/>
          </a:xfrm>
          <a:prstGeom prst="rect">
            <a:avLst/>
          </a:prstGeom>
          <a:solidFill>
            <a:srgbClr val="28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1280160"/>
          <a:ext cx="10362895" cy="4754880"/>
        </p:xfrm>
        <a:graphic>
          <a:graphicData uri="http://schemas.openxmlformats.org/drawingml/2006/table">
            <a:tbl>
              <a:tblPr firstRow="1" bandRow="1">
                <a:tableStyleId>{5C22544A-7EE6-4342-B048-85BDC9FD1C3A}</a:tableStyleId>
              </a:tblPr>
              <a:tblGrid>
                <a:gridCol w="1097280"/>
                <a:gridCol w="9265615"/>
              </a:tblGrid>
              <a:tr h="679268">
                <a:tc>
                  <a:txBody>
                    <a:bodyPr/>
                    <a:lstStyle/>
                    <a:p>
                      <a:pPr algn="ctr">
                        <a:defRPr sz="1300" b="1">
                          <a:solidFill>
                            <a:srgbClr val="FFFFFF"/>
                          </a:solidFill>
                        </a:defRPr>
                      </a:pPr>
                      <a:r>
                        <a:t>S.NO</a:t>
                      </a:r>
                    </a:p>
                  </a:txBody>
                  <a:tcPr>
                    <a:solidFill>
                      <a:srgbClr val="0A78DC"/>
                    </a:solidFill>
                  </a:tcPr>
                </a:tc>
                <a:tc>
                  <a:txBody>
                    <a:bodyPr/>
                    <a:lstStyle/>
                    <a:p>
                      <a:pPr algn="l">
                        <a:defRPr sz="1300" b="1">
                          <a:solidFill>
                            <a:srgbClr val="FFFFFF"/>
                          </a:solidFill>
                        </a:defRPr>
                      </a:pPr>
                      <a:r>
                        <a:t>REFERENCE DETAILS</a:t>
                      </a:r>
                    </a:p>
                  </a:txBody>
                  <a:tcPr>
                    <a:solidFill>
                      <a:srgbClr val="0A78DC"/>
                    </a:solidFill>
                  </a:tcPr>
                </a:tc>
              </a:tr>
              <a:tr h="679268">
                <a:tc>
                  <a:txBody>
                    <a:bodyPr/>
                    <a:lstStyle/>
                    <a:p>
                      <a:pPr algn="ctr">
                        <a:defRPr sz="1200" b="1">
                          <a:solidFill>
                            <a:srgbClr val="141928"/>
                          </a:solidFill>
                        </a:defRPr>
                      </a:pPr>
                      <a:r>
                        <a:t>1</a:t>
                      </a:r>
                    </a:p>
                  </a:txBody>
                  <a:tcPr>
                    <a:solidFill>
                      <a:srgbClr val="F0F5FF"/>
                    </a:solidFill>
                  </a:tcPr>
                </a:tc>
                <a:tc>
                  <a:txBody>
                    <a:bodyPr/>
                    <a:lstStyle/>
                    <a:p>
                      <a:pPr algn="l">
                        <a:defRPr sz="1100">
                          <a:solidFill>
                            <a:srgbClr val="141928"/>
                          </a:solidFill>
                        </a:defRPr>
                      </a:pPr>
                      <a:r>
                        <a:t>Cortez, P., &amp; Silva, A. (2008). Using data mining to predict secondary school student performance. In Proceedings of 5th Annual Future Business Technology Conference (FUBUTEC 2008), pp. 5-12.</a:t>
                      </a:r>
                    </a:p>
                  </a:txBody>
                  <a:tcPr>
                    <a:solidFill>
                      <a:srgbClr val="F0F5FF"/>
                    </a:solidFill>
                  </a:tcPr>
                </a:tc>
              </a:tr>
              <a:tr h="679268">
                <a:tc>
                  <a:txBody>
                    <a:bodyPr/>
                    <a:lstStyle/>
                    <a:p>
                      <a:pPr algn="ctr">
                        <a:defRPr sz="1200" b="1">
                          <a:solidFill>
                            <a:srgbClr val="141928"/>
                          </a:solidFill>
                        </a:defRPr>
                      </a:pPr>
                      <a:r>
                        <a:t>2</a:t>
                      </a:r>
                    </a:p>
                  </a:txBody>
                  <a:tcPr>
                    <a:solidFill>
                      <a:srgbClr val="FFFFFF"/>
                    </a:solidFill>
                  </a:tcPr>
                </a:tc>
                <a:tc>
                  <a:txBody>
                    <a:bodyPr/>
                    <a:lstStyle/>
                    <a:p>
                      <a:pPr algn="l">
                        <a:defRPr sz="1100">
                          <a:solidFill>
                            <a:srgbClr val="141928"/>
                          </a:solidFill>
                        </a:defRPr>
                      </a:pPr>
                      <a:r>
                        <a:t>Goodfellow, I., Bengio, Y., &amp; Courville, A. (2016). Deep Learning. MIT Press. Cambridge, MA.</a:t>
                      </a:r>
                    </a:p>
                  </a:txBody>
                  <a:tcPr>
                    <a:solidFill>
                      <a:srgbClr val="FFFFFF"/>
                    </a:solidFill>
                  </a:tcPr>
                </a:tc>
              </a:tr>
              <a:tr h="679268">
                <a:tc>
                  <a:txBody>
                    <a:bodyPr/>
                    <a:lstStyle/>
                    <a:p>
                      <a:pPr algn="ctr">
                        <a:defRPr sz="1200" b="1">
                          <a:solidFill>
                            <a:srgbClr val="141928"/>
                          </a:solidFill>
                        </a:defRPr>
                      </a:pPr>
                      <a:r>
                        <a:t>3</a:t>
                      </a:r>
                    </a:p>
                  </a:txBody>
                  <a:tcPr>
                    <a:solidFill>
                      <a:srgbClr val="F0F5FF"/>
                    </a:solidFill>
                  </a:tcPr>
                </a:tc>
                <a:tc>
                  <a:txBody>
                    <a:bodyPr/>
                    <a:lstStyle/>
                    <a:p>
                      <a:pPr algn="l">
                        <a:defRPr sz="1100">
                          <a:solidFill>
                            <a:srgbClr val="141928"/>
                          </a:solidFill>
                        </a:defRPr>
                      </a:pPr>
                      <a:r>
                        <a:t>Albreiki, B., Zaki, N., &amp; Alashwal, H. (2021). A systematic literature review of student performance prediction using machine learning techniques. Education and Information Technologies, 26(5), pp. 5521-5579.</a:t>
                      </a:r>
                    </a:p>
                  </a:txBody>
                  <a:tcPr>
                    <a:solidFill>
                      <a:srgbClr val="F0F5FF"/>
                    </a:solidFill>
                  </a:tcPr>
                </a:tc>
              </a:tr>
              <a:tr h="679268">
                <a:tc>
                  <a:txBody>
                    <a:bodyPr/>
                    <a:lstStyle/>
                    <a:p>
                      <a:pPr algn="ctr">
                        <a:defRPr sz="1200" b="1">
                          <a:solidFill>
                            <a:srgbClr val="141928"/>
                          </a:solidFill>
                        </a:defRPr>
                      </a:pPr>
                      <a:r>
                        <a:t>4</a:t>
                      </a:r>
                    </a:p>
                  </a:txBody>
                  <a:tcPr>
                    <a:solidFill>
                      <a:srgbClr val="FFFFFF"/>
                    </a:solidFill>
                  </a:tcPr>
                </a:tc>
                <a:tc>
                  <a:txBody>
                    <a:bodyPr/>
                    <a:lstStyle/>
                    <a:p>
                      <a:pPr algn="l">
                        <a:defRPr sz="1100">
                          <a:solidFill>
                            <a:srgbClr val="141928"/>
                          </a:solidFill>
                        </a:defRPr>
                      </a:pPr>
                      <a:r>
                        <a:t>Romero, C., &amp; Ventura, S. (2020). Educational data mining and learning analytics: An updated survey. Wiley Interdisciplinary Reviews: Data Mining and Knowledge Discovery, 10(3), e1355.</a:t>
                      </a:r>
                    </a:p>
                  </a:txBody>
                  <a:tcPr>
                    <a:solidFill>
                      <a:srgbClr val="FFFFFF"/>
                    </a:solidFill>
                  </a:tcPr>
                </a:tc>
              </a:tr>
              <a:tr h="679268">
                <a:tc>
                  <a:txBody>
                    <a:bodyPr/>
                    <a:lstStyle/>
                    <a:p>
                      <a:pPr algn="ctr">
                        <a:defRPr sz="1200" b="1">
                          <a:solidFill>
                            <a:srgbClr val="141928"/>
                          </a:solidFill>
                        </a:defRPr>
                      </a:pPr>
                      <a:r>
                        <a:t>5</a:t>
                      </a:r>
                    </a:p>
                  </a:txBody>
                  <a:tcPr>
                    <a:solidFill>
                      <a:srgbClr val="F0F5FF"/>
                    </a:solidFill>
                  </a:tcPr>
                </a:tc>
                <a:tc>
                  <a:txBody>
                    <a:bodyPr/>
                    <a:lstStyle/>
                    <a:p>
                      <a:pPr algn="l">
                        <a:defRPr sz="1100">
                          <a:solidFill>
                            <a:srgbClr val="141928"/>
                          </a:solidFill>
                        </a:defRPr>
                      </a:pPr>
                      <a:r>
                        <a:t>Kingma, D. P., &amp; Ba, J. (2014). Adam: A method for stochastic optimization. In Proceedings of the 3rd International Conference on Learning Representations (ICLR 2015), arXiv:1412.6980.</a:t>
                      </a:r>
                    </a:p>
                  </a:txBody>
                  <a:tcPr>
                    <a:solidFill>
                      <a:srgbClr val="F0F5FF"/>
                    </a:solidFill>
                  </a:tcPr>
                </a:tc>
              </a:tr>
              <a:tr h="679272">
                <a:tc>
                  <a:txBody>
                    <a:bodyPr/>
                    <a:lstStyle/>
                    <a:p>
                      <a:pPr algn="ctr">
                        <a:defRPr sz="1200" b="1">
                          <a:solidFill>
                            <a:srgbClr val="141928"/>
                          </a:solidFill>
                        </a:defRPr>
                      </a:pPr>
                      <a:r>
                        <a:t>6</a:t>
                      </a:r>
                    </a:p>
                  </a:txBody>
                  <a:tcPr>
                    <a:solidFill>
                      <a:srgbClr val="FFFFFF"/>
                    </a:solidFill>
                  </a:tcPr>
                </a:tc>
                <a:tc>
                  <a:txBody>
                    <a:bodyPr/>
                    <a:lstStyle/>
                    <a:p>
                      <a:pPr algn="l">
                        <a:defRPr sz="1100">
                          <a:solidFill>
                            <a:srgbClr val="141928"/>
                          </a:solidFill>
                        </a:defRPr>
                      </a:pPr>
                      <a:r>
                        <a:t>Srivastava, N., Hinton, G., Krizhevsky, A., Sutskever, I., &amp; Salakhutdinov, R. (2014). Dropout: A simple way to prevent neural networks from overfitting. Journal of Machine Learning Research, 15(1), pp. 1929-1958.</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